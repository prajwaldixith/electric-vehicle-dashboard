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A4412-DDA2-36C1-0A8E-F57E19EFD5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5BB41D-BCDE-48CA-F495-96E61F075B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C6AD131-EA43-DA59-F0E1-3562AC41F0F1}"/>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5" name="Footer Placeholder 4">
            <a:extLst>
              <a:ext uri="{FF2B5EF4-FFF2-40B4-BE49-F238E27FC236}">
                <a16:creationId xmlns:a16="http://schemas.microsoft.com/office/drawing/2014/main" id="{C293F99F-B27F-BC56-DCD3-713B6C0821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EF25F9-8539-5C23-2144-F0F21BBBDA33}"/>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3255484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F1599-8C14-8F49-A399-C52145F24C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26CCF1-7C1E-58CA-D540-F6AC23AC01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A79878-EE07-6098-D47F-8588C34B6FAC}"/>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5" name="Footer Placeholder 4">
            <a:extLst>
              <a:ext uri="{FF2B5EF4-FFF2-40B4-BE49-F238E27FC236}">
                <a16:creationId xmlns:a16="http://schemas.microsoft.com/office/drawing/2014/main" id="{78118E84-AC7B-B309-426E-9B52B63812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00AC67-37D2-8C89-A0E1-0D729717BBEC}"/>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2176647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A6F6B-5EF4-3983-9D24-EB080FC6CB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F28E2D-E7BC-A20A-8A82-8467DDBAF4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6786DD-DB80-F17C-29CD-4C3D736F3880}"/>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5" name="Footer Placeholder 4">
            <a:extLst>
              <a:ext uri="{FF2B5EF4-FFF2-40B4-BE49-F238E27FC236}">
                <a16:creationId xmlns:a16="http://schemas.microsoft.com/office/drawing/2014/main" id="{6D791E09-6F34-1F4C-BC75-A0C8879F32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297CA-8E57-4624-9C9D-D245BBAE0085}"/>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3729349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C214B-9D51-03DE-862A-ECF77FB3DE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D64EC5-C0DB-5853-2974-7E616297ED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F18ADA-5101-5F97-C0F9-3B3AF474AE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434C68-5919-1292-D2CE-B815B31EE585}"/>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6" name="Footer Placeholder 5">
            <a:extLst>
              <a:ext uri="{FF2B5EF4-FFF2-40B4-BE49-F238E27FC236}">
                <a16:creationId xmlns:a16="http://schemas.microsoft.com/office/drawing/2014/main" id="{CC980295-44EC-595F-B060-96F798CF43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72DA1C-3B05-F87C-7E0F-DB3CAB521CA9}"/>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2496344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F88AF-BCF8-E91F-7790-3B4B895795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73CA89-ED33-FDB3-8A95-D98D1C32DA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FDF24F-59DD-7F3A-4172-F16472B498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6714B8-DA60-F0EA-E70C-D51D4DDFDF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FD5BE5-AFEF-713D-487D-74072164E7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8B2DDE-0D44-3DFC-56CB-B5A6436CF3C3}"/>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8" name="Footer Placeholder 7">
            <a:extLst>
              <a:ext uri="{FF2B5EF4-FFF2-40B4-BE49-F238E27FC236}">
                <a16:creationId xmlns:a16="http://schemas.microsoft.com/office/drawing/2014/main" id="{7ACD1D03-53FD-329D-CFCD-F911A639B9D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DE34D0-031C-5E8B-F6F3-029469B3DC2D}"/>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385891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E38B7-BCD9-B160-56B2-9F7E9D64B62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D3CBC0-EEDC-996A-879E-E43EBA7D14F7}"/>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4" name="Footer Placeholder 3">
            <a:extLst>
              <a:ext uri="{FF2B5EF4-FFF2-40B4-BE49-F238E27FC236}">
                <a16:creationId xmlns:a16="http://schemas.microsoft.com/office/drawing/2014/main" id="{812DF689-0442-3A83-9210-085D1A9009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E58703-78A4-B192-6004-293044017C5E}"/>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2314714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1D9BA5-6D7C-0D36-BFAE-B71CE8297D85}"/>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3" name="Footer Placeholder 2">
            <a:extLst>
              <a:ext uri="{FF2B5EF4-FFF2-40B4-BE49-F238E27FC236}">
                <a16:creationId xmlns:a16="http://schemas.microsoft.com/office/drawing/2014/main" id="{22F4B838-554E-D79E-FFCA-CC3332F4BB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0F73C1-18D2-F017-DD8B-A1A1F08CCDB1}"/>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930515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3C5F1-FBFB-A139-B8BF-40EDF09E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4867D3-C323-4F44-1E23-BF9D600B99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B565CF-9540-46CF-FFB1-19D579DA0E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C4A3FB-BEB2-068A-37DA-A742164B9585}"/>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6" name="Footer Placeholder 5">
            <a:extLst>
              <a:ext uri="{FF2B5EF4-FFF2-40B4-BE49-F238E27FC236}">
                <a16:creationId xmlns:a16="http://schemas.microsoft.com/office/drawing/2014/main" id="{1516F2B7-2245-7EB2-8B6B-45E6A8E86A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125B0B-2F3F-5ACB-66F2-72443B08B16B}"/>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2605333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A89F5-1810-9D25-B642-B94E2675BD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9F9C33-3C23-B586-3F9E-091D3312205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5241D47-1CDF-3B3B-06BD-90A4A1624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9E1600-F935-1604-032B-67AD319D7884}"/>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6" name="Footer Placeholder 5">
            <a:extLst>
              <a:ext uri="{FF2B5EF4-FFF2-40B4-BE49-F238E27FC236}">
                <a16:creationId xmlns:a16="http://schemas.microsoft.com/office/drawing/2014/main" id="{B1FA54E6-A09A-6A6D-CEA7-76F4E4056C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A1C7A-D0B2-1C97-A8B7-B4709D7EED63}"/>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2019387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8E153-ED72-881C-4213-CE299263A1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73CF4-DC7E-DA1B-6ADC-32872D0D4F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20FDFB-A0DF-3EBA-F2C7-52F83F28D336}"/>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5" name="Footer Placeholder 4">
            <a:extLst>
              <a:ext uri="{FF2B5EF4-FFF2-40B4-BE49-F238E27FC236}">
                <a16:creationId xmlns:a16="http://schemas.microsoft.com/office/drawing/2014/main" id="{3A3A6507-F84D-A156-6DFC-90C2C02F47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2DA3DD-83AF-95F9-C516-B29F64D47717}"/>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1731737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5B1851-7119-C173-7AB7-150706E6DD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E3A3D9-5018-51C8-41BC-B04BA16B0A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A2EB0E-93FE-2345-AF04-1E37301BD62E}"/>
              </a:ext>
            </a:extLst>
          </p:cNvPr>
          <p:cNvSpPr>
            <a:spLocks noGrp="1"/>
          </p:cNvSpPr>
          <p:nvPr>
            <p:ph type="dt" sz="half" idx="10"/>
          </p:nvPr>
        </p:nvSpPr>
        <p:spPr/>
        <p:txBody>
          <a:bodyPr/>
          <a:lstStyle/>
          <a:p>
            <a:fld id="{6BD03073-673E-49CF-920A-1AE6577C32D9}" type="datetimeFigureOut">
              <a:rPr lang="en-IN" smtClean="0"/>
              <a:t>03-10-2026</a:t>
            </a:fld>
            <a:endParaRPr lang="en-IN"/>
          </a:p>
        </p:txBody>
      </p:sp>
      <p:sp>
        <p:nvSpPr>
          <p:cNvPr id="5" name="Footer Placeholder 4">
            <a:extLst>
              <a:ext uri="{FF2B5EF4-FFF2-40B4-BE49-F238E27FC236}">
                <a16:creationId xmlns:a16="http://schemas.microsoft.com/office/drawing/2014/main" id="{7B95E6D3-CF99-B8C3-A1CC-10B4E1E46A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AC5C72-7FB5-B430-DD63-2293987DC6A6}"/>
              </a:ext>
            </a:extLst>
          </p:cNvPr>
          <p:cNvSpPr>
            <a:spLocks noGrp="1"/>
          </p:cNvSpPr>
          <p:nvPr>
            <p:ph type="sldNum" sz="quarter" idx="12"/>
          </p:nvPr>
        </p:nvSpPr>
        <p:spPr/>
        <p:txBody>
          <a:bodyPr/>
          <a:lstStyle/>
          <a:p>
            <a:fld id="{42C03A33-FE14-4BD4-BF42-E24E4FED63F4}" type="slidenum">
              <a:rPr lang="en-IN" smtClean="0"/>
              <a:t>‹#›</a:t>
            </a:fld>
            <a:endParaRPr lang="en-IN"/>
          </a:p>
        </p:txBody>
      </p:sp>
    </p:spTree>
    <p:extLst>
      <p:ext uri="{BB962C8B-B14F-4D97-AF65-F5344CB8AC3E}">
        <p14:creationId xmlns:p14="http://schemas.microsoft.com/office/powerpoint/2010/main" val="159749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F53FD2-7EE4-AE94-1F02-C4079A6F66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A51BE7-4AA3-474E-B836-AE1AE714A9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8B029C-9F2D-58B7-5668-40C234CA91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D03073-673E-49CF-920A-1AE6577C32D9}" type="datetimeFigureOut">
              <a:rPr lang="en-IN" smtClean="0"/>
              <a:t>03-10-2026</a:t>
            </a:fld>
            <a:endParaRPr lang="en-IN"/>
          </a:p>
        </p:txBody>
      </p:sp>
      <p:sp>
        <p:nvSpPr>
          <p:cNvPr id="5" name="Footer Placeholder 4">
            <a:extLst>
              <a:ext uri="{FF2B5EF4-FFF2-40B4-BE49-F238E27FC236}">
                <a16:creationId xmlns:a16="http://schemas.microsoft.com/office/drawing/2014/main" id="{7F965845-C936-608F-A9C9-E8080E5681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67D3031-7A14-7508-5E0F-7FE6A76089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C03A33-FE14-4BD4-BF42-E24E4FED63F4}" type="slidenum">
              <a:rPr lang="en-IN" smtClean="0"/>
              <a:t>‹#›</a:t>
            </a:fld>
            <a:endParaRPr lang="en-IN"/>
          </a:p>
        </p:txBody>
      </p:sp>
    </p:spTree>
    <p:extLst>
      <p:ext uri="{BB962C8B-B14F-4D97-AF65-F5344CB8AC3E}">
        <p14:creationId xmlns:p14="http://schemas.microsoft.com/office/powerpoint/2010/main" val="3923778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40000"/>
                <a:lumOff val="60000"/>
              </a:schemeClr>
            </a:gs>
            <a:gs pos="100000">
              <a:schemeClr val="accent6">
                <a:lumMod val="60000"/>
                <a:lumOff val="4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E3960F-887A-6BAB-3BBE-FF35693BEEE7}"/>
              </a:ext>
            </a:extLst>
          </p:cNvPr>
          <p:cNvSpPr txBox="1"/>
          <p:nvPr/>
        </p:nvSpPr>
        <p:spPr>
          <a:xfrm>
            <a:off x="162233" y="1289953"/>
            <a:ext cx="11867534" cy="4108817"/>
          </a:xfrm>
          <a:prstGeom prst="rect">
            <a:avLst/>
          </a:prstGeom>
          <a:solidFill>
            <a:srgbClr val="008000"/>
          </a:solidFill>
        </p:spPr>
        <p:txBody>
          <a:bodyPr wrap="square" rtlCol="0">
            <a:spAutoFit/>
          </a:bodyPr>
          <a:lstStyle/>
          <a:p>
            <a:r>
              <a:rPr lang="en-IN" sz="2000" b="1" u="sng" dirty="0"/>
              <a:t>Conclusions</a:t>
            </a:r>
            <a:r>
              <a:rPr lang="en-IN" sz="2000" b="1" dirty="0"/>
              <a:t> :  </a:t>
            </a:r>
          </a:p>
          <a:p>
            <a:r>
              <a:rPr lang="en-IN" dirty="0"/>
              <a:t>Electric Vehicle Primary reasons for customers choosing 4-wheeler EVs in 2023 and 2024 Power BI Desktop</a:t>
            </a:r>
          </a:p>
          <a:p>
            <a:endParaRPr lang="en-IN" dirty="0"/>
          </a:p>
          <a:p>
            <a:r>
              <a:rPr lang="en-IN" dirty="0"/>
              <a:t> 1. Cost Savings: EVs offer lower running costs due to reduced fuel and maintenance expenses. The cost of electricity is generally lower than petrol or diesel, and EVs have fewer moving parts, reducing maintenance needs.</a:t>
            </a:r>
          </a:p>
          <a:p>
            <a:r>
              <a:rPr lang="en-IN" dirty="0"/>
              <a:t> 2. Environmental Concerns: Increasing awareness of climate change and air pollution drives customers to choose EVs, as they produce zero tailpipe emissions and contribute to reducing urban air pollution.</a:t>
            </a:r>
          </a:p>
          <a:p>
            <a:r>
              <a:rPr lang="en-IN" dirty="0"/>
              <a:t> 3. Government Incentives: Government schemes, such as the Faster Adoption and Manufacturing of Hybrid and Electric Vehicles (FAME) II scheme, provide subsidies and incentives for EV purchases, making them more affordable and attractive.</a:t>
            </a:r>
          </a:p>
          <a:p>
            <a:endParaRPr lang="en-IN" dirty="0"/>
          </a:p>
          <a:p>
            <a:r>
              <a:rPr lang="en-IN" dirty="0"/>
              <a:t> Top 3 States that have provided substantial subsidies in India, Delhi, Goa , Maharashtra.</a:t>
            </a:r>
          </a:p>
          <a:p>
            <a:r>
              <a:rPr lang="en-IN" dirty="0"/>
              <a:t>Top 5 States with the highest  EV  Sales, : Maharashtra, Karnataka, Tamil Nadu, Gujrat, Rajasthan.</a:t>
            </a:r>
          </a:p>
          <a:p>
            <a:r>
              <a:rPr lang="en-IN" dirty="0"/>
              <a:t>Top 5 States with Highest Penetration of EV are : Goa, Karnataka, Delhi, Kerala, Maharashtra as observed.</a:t>
            </a:r>
            <a:endParaRPr lang="en-IN" sz="800" dirty="0"/>
          </a:p>
          <a:p>
            <a:endParaRPr lang="en-IN" sz="700" dirty="0"/>
          </a:p>
        </p:txBody>
      </p:sp>
    </p:spTree>
    <p:extLst>
      <p:ext uri="{BB962C8B-B14F-4D97-AF65-F5344CB8AC3E}">
        <p14:creationId xmlns:p14="http://schemas.microsoft.com/office/powerpoint/2010/main" val="4001414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197</Words>
  <Application>Microsoft Office PowerPoint</Application>
  <PresentationFormat>Widescreen</PresentationFormat>
  <Paragraphs>10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Prajwal Dixith</dc:creator>
  <cp:lastModifiedBy>Prajwal Dixith</cp:lastModifiedBy>
  <cp:revision>7</cp:revision>
  <dcterms:created xsi:type="dcterms:W3CDTF">2026-10-03T07:04:43Z</dcterms:created>
  <dcterms:modified xsi:type="dcterms:W3CDTF">2026-10-03T07:31:41Z</dcterms:modified>
</cp:coreProperties>
</file>